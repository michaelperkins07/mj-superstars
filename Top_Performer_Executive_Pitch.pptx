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Revenue</c:v>
                </c:pt>
              </c:strCache>
            </c:strRef>
          </c:tx>
          <c:spPr>
            <a:solidFill>
              <a:srgbClr val="FFD7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D7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Month 3</c:v>
                  </c:pt>
                  <c:pt idx="1">
                    <c:v>Month 6</c:v>
                  </c:pt>
                  <c:pt idx="2">
                    <c:v>Month 9</c:v>
                  </c:pt>
                  <c:pt idx="3">
                    <c:v>Month 12</c:v>
                  </c:pt>
                  <c:pt idx="4">
                    <c:v>Month 18</c:v>
                  </c:pt>
                  <c:pt idx="5">
                    <c:v>Month 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5000</c:v>
                </c:pt>
                <c:pt idx="1">
                  <c:v>25000</c:v>
                </c:pt>
                <c:pt idx="2">
                  <c:v>75000</c:v>
                </c:pt>
                <c:pt idx="3">
                  <c:v>150000</c:v>
                </c:pt>
                <c:pt idx="4">
                  <c:v>400000</c:v>
                </c:pt>
                <c:pt idx="5">
                  <c:v>800000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D7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3333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1A1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6400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PERFORMER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3200400" y="3108960"/>
            <a:ext cx="2743200" cy="640080"/>
          </a:xfrm>
          <a:prstGeom prst="roundRect">
            <a:avLst>
              <a:gd name="adj" fmla="val 21429"/>
            </a:avLst>
          </a:prstGeom>
          <a:solidFill>
            <a:srgbClr val="FFD700"/>
          </a:solidFill>
          <a:ln/>
        </p:spPr>
      </p:sp>
      <p:sp>
        <p:nvSpPr>
          <p:cNvPr id="6" name="Text 3"/>
          <p:cNvSpPr/>
          <p:nvPr/>
        </p:nvSpPr>
        <p:spPr>
          <a:xfrm>
            <a:off x="3200400" y="3108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spc="4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TP 1%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Coach You Always Needed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pPr algn="ctr" indent="0" marL="0">
              <a:buNone/>
            </a:pPr>
            <a:r>
              <a:rPr lang="en-US" sz="15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pPr algn="ctr" indent="0" marL="0">
              <a:buNone/>
            </a:pPr>
            <a:r>
              <a:rPr lang="en-US" sz="15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Intelligence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99% of People Are Underperforming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246888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77%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adults experience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that affects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physical health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66160" y="1645920"/>
            <a:ext cx="246888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$322B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566160" y="2834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annually 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stress-related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issues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645920"/>
            <a:ext cx="2468880" cy="25603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8288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in 5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6400800" y="28346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experience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 illness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year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need another meditation app. They need a COACH.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0515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AI Mental Performance Coach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 uses advanced AI to deliver personalized coaching that was previously only available to elite athletes, CEOs, and top-tier executives.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5176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83464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27614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Therapy Sessions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5156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cognitive behavioral coaching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291840" y="265176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83464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886200" y="27614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Performance Drills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388620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challenges that build resilience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126480" y="265176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83464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720840" y="27614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Intelligence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720840" y="3108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patterns, predict triggers, optimize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57200" y="388620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06908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51560" y="3995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 System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1051560" y="4343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streaks, levels that keep you locked in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3291840" y="388620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4069080"/>
            <a:ext cx="365760" cy="36576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886200" y="3995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of Winners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3886200" y="4343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feed with people who refuse to lose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126480" y="3886200"/>
            <a:ext cx="2560320" cy="105156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4069080"/>
            <a:ext cx="365760" cy="3657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720840" y="3995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Notifications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6720840" y="4343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AI-timed push alerts for peak moments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 Screens. Zero Fluff. All Performance.</a:t>
            </a:r>
            <a:endParaRPr lang="en-US" sz="3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 Coach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1691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CBT, motivational interviewing, and Socratic questioning. Context-aware. Remembers your story.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3172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286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Tracker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moods, energy, sleep. AI detects patterns and predicts your best/worst days before they happen.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1440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Challenges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914400" y="3520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challenges, streak bonuses, XP multipliers. Gamification that drives habit formation.</a:t>
            </a:r>
            <a:endParaRPr lang="en-US" sz="10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6052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1440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+ Prompts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914400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reflection prompts based on YOUR patterns. Private, encrypted, powerful.</a:t>
            </a:r>
            <a:endParaRPr lang="en-US" sz="10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41732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12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Feed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5212080" y="1691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wins, support others, see the leaderboard. Positive accountability from day one.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3317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2286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Board</a:t>
            </a:r>
            <a:endParaRPr lang="en-US" sz="1300" dirty="0"/>
          </a:p>
        </p:txBody>
      </p:sp>
      <p:sp>
        <p:nvSpPr>
          <p:cNvPr id="22" name="Text 14"/>
          <p:cNvSpPr/>
          <p:nvPr/>
        </p:nvSpPr>
        <p:spPr>
          <a:xfrm>
            <a:off x="521208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Photo-powered goal visualization. Upload dreams, track progress, stay obsessed.</a:t>
            </a:r>
            <a:endParaRPr lang="en-US" sz="100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324612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52120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Alerts</a:t>
            </a:r>
            <a:endParaRPr lang="en-US" sz="1300" dirty="0"/>
          </a:p>
        </p:txBody>
      </p:sp>
      <p:sp>
        <p:nvSpPr>
          <p:cNvPr id="25" name="Text 16"/>
          <p:cNvSpPr/>
          <p:nvPr/>
        </p:nvSpPr>
        <p:spPr>
          <a:xfrm>
            <a:off x="5212080" y="3520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AI-optimized push notifications. Right message, right time. Based on your behavior patterns.</a:t>
            </a:r>
            <a:endParaRPr lang="en-US" sz="10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4160520"/>
            <a:ext cx="320040" cy="32004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212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Paywall</a:t>
            </a:r>
            <a:endParaRPr lang="en-US" sz="1300" dirty="0"/>
          </a:p>
        </p:txBody>
      </p:sp>
      <p:sp>
        <p:nvSpPr>
          <p:cNvPr id="28" name="Text 18"/>
          <p:cNvSpPr/>
          <p:nvPr/>
        </p:nvSpPr>
        <p:spPr>
          <a:xfrm>
            <a:off x="5212080" y="4434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model with $9.99/mo or $79.99/yr tiers. High-value features behind the gate.</a:t>
            </a:r>
            <a:endParaRPr lang="en-US" sz="1000" dirty="0"/>
          </a:p>
        </p:txBody>
      </p:sp>
      <p:sp>
        <p:nvSpPr>
          <p:cNvPr id="29" name="Shape 19"/>
          <p:cNvSpPr/>
          <p:nvPr/>
        </p:nvSpPr>
        <p:spPr>
          <a:xfrm>
            <a:off x="4572000" y="1371600"/>
            <a:ext cx="0" cy="338328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5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Market Is Exploding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8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$13.5B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48640" y="27889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Market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15%+ CAGR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474720" y="1463040"/>
            <a:ext cx="256032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6002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7472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$5.1B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3474720" y="27889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Meditation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Apps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4747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Headspace, Calm, etc.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400800" y="1463040"/>
            <a:ext cx="2560320" cy="2194560"/>
          </a:xfrm>
          <a:prstGeom prst="rect">
            <a:avLst/>
          </a:prstGeom>
          <a:solidFill>
            <a:srgbClr val="111111"/>
          </a:solidFill>
          <a:ln/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60020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00800" y="2148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$1.2T</a:t>
            </a:r>
            <a:endParaRPr lang="en-US" sz="3600" dirty="0"/>
          </a:p>
        </p:txBody>
      </p:sp>
      <p:sp>
        <p:nvSpPr>
          <p:cNvPr id="18" name="Text 13"/>
          <p:cNvSpPr/>
          <p:nvPr/>
        </p:nvSpPr>
        <p:spPr>
          <a:xfrm>
            <a:off x="6400800" y="27889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Wellness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0080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wellness fastest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0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NOW?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457200" y="4206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Post-pandemic mental health awareness at all-time high  |  AI technology finally capable of real coaching  |  Gen Z spending 2x more on mental wellness  |  Employer wellness budgets expanding 25% YoY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EDGE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Top Performer Wins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320040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28016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A0A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Performer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BetterHelp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Coaching (Real Conversations)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Gamification (XP, Levels, Streaks)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Mood Intelligence + Prediction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 Community &amp; Accountability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Forum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 Board &amp; Goal Tracking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Personalized Smart Notifications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C8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(Monthly)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D4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888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 doesn't compete with meditation apps. It REPLACES your need for a $200/hr performance coach.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5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Multiple Revenue Streams Built In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15544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54864" cy="1554480"/>
          </a:xfrm>
          <a:prstGeom prst="rect">
            <a:avLst/>
          </a:prstGeom>
          <a:solidFill>
            <a:srgbClr val="FFD70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Subscription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00400" y="1508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Revenue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31520" y="18745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$9.99/mo or $79.99/yr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AI coaching, advanced analytics,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challenges, priority support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46320" y="1371600"/>
            <a:ext cx="4114800" cy="15544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371600"/>
            <a:ext cx="54864" cy="1554480"/>
          </a:xfrm>
          <a:prstGeom prst="rect">
            <a:avLst/>
          </a:prstGeom>
          <a:solidFill>
            <a:srgbClr val="00D4F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5087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Engine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589520" y="1508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Growth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120640" y="18745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viral referral 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100pts referrer + 50pts referred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gamification drives organic growth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57200" y="3108960"/>
            <a:ext cx="4114800" cy="15544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7200" y="3108960"/>
            <a:ext cx="54864" cy="1554480"/>
          </a:xfrm>
          <a:prstGeom prst="rect">
            <a:avLst/>
          </a:prstGeom>
          <a:solidFill>
            <a:srgbClr val="00C853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4612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/ B2B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3200400" y="32461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Upsell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731520" y="36118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wellness packages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performance dashboards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licensing for organizations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846320" y="3108960"/>
            <a:ext cx="4114800" cy="15544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846320" y="3108960"/>
            <a:ext cx="54864" cy="155448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24612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3200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Insights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589520" y="32461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Revenue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5120640" y="36118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Anonymized wellness trends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mental health analytics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opportunities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BUILT. SHIPPED. LIVE.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Isn't a Mockup. It's LIVE.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10972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150+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920240" cy="10972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65176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1371600"/>
            <a:ext cx="1920240" cy="10972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84632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40880" y="1371600"/>
            <a:ext cx="1920240" cy="10972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40880" y="1417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704088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Complete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Progressive Web App (iOS + Android)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0449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 + PostgreSQL backend on Render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924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(Anthropic) for conversational coaching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7398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real-time messaging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4087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Push Notification Service (APNS)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error monitoring + Mixpanel analytics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App Store ready (Bundle ID registered)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30449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RevenueCat subscription management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33924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caching for performance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7398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 for messages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40873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email campaigns (SendGrid)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4434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 for staged rollouts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now: mj-superstars-app.onrender.com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STRATEGY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Brand Identity + Logo Concepts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377440" cy="18288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05840" y="1737360"/>
            <a:ext cx="1463040" cy="594360"/>
          </a:xfrm>
          <a:prstGeom prst="roundRect">
            <a:avLst>
              <a:gd name="adj" fmla="val 15385"/>
            </a:avLst>
          </a:prstGeom>
          <a:solidFill>
            <a:srgbClr val="FFD70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7373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3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TP 1%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badge mark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Compact. Iconic. Merch-ready.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0" y="1371600"/>
            <a:ext cx="2377440" cy="18288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8328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600" dirty="0"/>
          </a:p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PERFORMER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38328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wordmark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Bold hierarchy. Premium feel.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377440" cy="18288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0" y="1417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16916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Minimalist icon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icon. Wearable. Statement.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28800" y="333756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A1A2E"/>
          </a:solidFill>
          <a:ln/>
          <a:effectLst>
            <a:outerShdw sx="100000" sy="100000" kx="0" ky="0" algn="bl" rotWithShape="0" blurRad="38100" dist="127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828800" y="3337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(Artificial Intelligence)  +  </a:t>
            </a:r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</a:t>
            </a:r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(Emotional Intelligence)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4114800" cy="13258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977640"/>
            <a:ext cx="54864" cy="1325880"/>
          </a:xfrm>
          <a:prstGeom prst="rect">
            <a:avLst/>
          </a:prstGeom>
          <a:solidFill>
            <a:srgbClr val="00D4FF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14800"/>
            <a:ext cx="320040" cy="32004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09728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Power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85800" y="44348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"Top Performer" is aspirational, universal, and SEO-friendly. It speaks to athletes, executives, students, and anyone who refuses to settle. The name IS the promise.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846320" y="3977640"/>
            <a:ext cx="4114800" cy="132588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50800" dist="127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846320" y="3977640"/>
            <a:ext cx="54864" cy="1325880"/>
          </a:xfrm>
          <a:prstGeom prst="rect">
            <a:avLst/>
          </a:prstGeom>
          <a:solidFill>
            <a:srgbClr val="FFD700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114800"/>
            <a:ext cx="320040" cy="32004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486400" y="4069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Position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5074920" y="44348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"mental health app" (stigma kills downloads). It's a PERFORMANCE tool. The 1% advantage that separates winners from everyone else. Think Nike for the mind.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Marketing Strategies That Print Money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54864" cy="10515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44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"Are You In The 1%?" Campaign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quiz funnel. Users take a 60-second "mental performance" assessment. Results show their score and invite them to join the TP 1%. Viral shareability built in.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846320" y="137160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371600"/>
            <a:ext cx="54864" cy="10515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444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Athlete Partnerships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fitness influencers, MMA fighters, entrepreneurs. "This is my secret weapon." Authenticity sells. Target micro-influencers (10K-100K) for better ROI.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06040"/>
            <a:ext cx="54864" cy="1051560"/>
          </a:xfrm>
          <a:prstGeom prst="rect">
            <a:avLst/>
          </a:prstGeom>
          <a:solidFill>
            <a:srgbClr val="00C853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679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Wellness Packages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971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to HR departments: "Reduce burnout, increase productivity." Offer team dashboards and bulk pricing. $5/user/mo at scale = massive B2B revenue.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46320" y="260604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606040"/>
            <a:ext cx="54864" cy="10515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2679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TikTok/Reels Content Engine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2971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30-second "mental performance tips" from the app. Quick wins, motivation, transformation stories. Hook: "What the top 1% do every morning that you don't."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840480"/>
            <a:ext cx="54864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Competitions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206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referral leaderboard with prizes. Top referrers get free lifetime access, merch, or cash rewards. Creates army of brand ambassadors.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46320" y="3840480"/>
            <a:ext cx="4114800" cy="105156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3840480"/>
            <a:ext cx="54864" cy="105156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3913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Day Scarcity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0" y="4206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"First 1,000 users get Founding Member status + lifetime 50% discount." Create urgency. Limited badges. Exclusive community access. FOMO drives downloads.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Here to Market Domination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1645920"/>
            <a:ext cx="7315200" cy="0"/>
          </a:xfrm>
          <a:prstGeom prst="line">
            <a:avLst/>
          </a:prstGeom>
          <a:noFill/>
          <a:ln w="254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508760"/>
            <a:ext cx="274320" cy="274320"/>
          </a:xfrm>
          <a:prstGeom prst="ellipse">
            <a:avLst/>
          </a:prstGeom>
          <a:solidFill>
            <a:srgbClr val="00C853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3172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Submission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Developer setup, TestFlight beta,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metadata, screenshots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651760" y="1508760"/>
            <a:ext cx="274320" cy="274320"/>
          </a:xfrm>
          <a:prstGeom prst="ellipse">
            <a:avLst/>
          </a:prstGeom>
          <a:solidFill>
            <a:srgbClr val="00D4FF"/>
          </a:solidFill>
          <a:ln/>
        </p:spPr>
      </p:sp>
      <p:sp>
        <p:nvSpPr>
          <p:cNvPr id="13" name="Text 10"/>
          <p:cNvSpPr/>
          <p:nvPr/>
        </p:nvSpPr>
        <p:spPr>
          <a:xfrm>
            <a:off x="210312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2-4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10312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233172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19456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Launch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219456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beta testers, gather feedback,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bugs, optimize onboarding flow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389120" y="1508760"/>
            <a:ext cx="274320" cy="274320"/>
          </a:xfrm>
          <a:prstGeom prst="ellipse">
            <a:avLst/>
          </a:prstGeom>
          <a:solidFill>
            <a:srgbClr val="FFD700"/>
          </a:solidFill>
          <a:ln/>
        </p:spPr>
      </p:sp>
      <p:sp>
        <p:nvSpPr>
          <p:cNvPr id="19" name="Text 15"/>
          <p:cNvSpPr/>
          <p:nvPr/>
        </p:nvSpPr>
        <p:spPr>
          <a:xfrm>
            <a:off x="384048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84048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33172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93192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393192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live, social media blitz,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 partnerships, PR campaign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126480" y="1508760"/>
            <a:ext cx="274320" cy="274320"/>
          </a:xfrm>
          <a:prstGeom prst="ellipse">
            <a:avLst/>
          </a:prstGeom>
          <a:solidFill>
            <a:srgbClr val="E94560"/>
          </a:solidFill>
          <a:ln/>
        </p:spPr>
      </p:sp>
      <p:sp>
        <p:nvSpPr>
          <p:cNvPr id="25" name="Text 20"/>
          <p:cNvSpPr/>
          <p:nvPr/>
        </p:nvSpPr>
        <p:spPr>
          <a:xfrm>
            <a:off x="557784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3-6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557784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33172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66928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Optimize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66928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 optimization, A/B pricing tests,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Watch, HealthKit integration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7863840" y="15087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1" name="Text 25"/>
          <p:cNvSpPr/>
          <p:nvPr/>
        </p:nvSpPr>
        <p:spPr>
          <a:xfrm>
            <a:off x="7315200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6+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315200" y="2240280"/>
            <a:ext cx="1554480" cy="2286000"/>
          </a:xfrm>
          <a:prstGeom prst="rect">
            <a:avLst/>
          </a:prstGeom>
          <a:solidFill>
            <a:srgbClr val="151515"/>
          </a:solidFill>
          <a:ln/>
          <a:effectLst>
            <a:outerShdw sx="100000" sy="100000" kx="0" ky="0" algn="bl" rotWithShape="0" blurRad="38100" dist="12700" dir="8100000">
              <a:srgbClr val="000000">
                <a:alpha val="25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2331720"/>
            <a:ext cx="411480" cy="41148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406640" y="2834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Growth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7406640" y="329184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wellness packages, Android version,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marketplace, international expansion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5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PROJECTIONS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Numbers Don't Lie</a:t>
            </a:r>
            <a:endParaRPr lang="en-US" sz="3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7160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94360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Users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89520" y="1463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50,000+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589520" y="1965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C8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8-12%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ARPU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89520" y="2468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$8.50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94360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ARR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589520" y="2971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$1.8M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94360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 ARR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8952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D7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$9.6M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9436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58952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C8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5:1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estimates based on 2% market penetration in target demographic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45720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920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spc="6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JOIN THE 1%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3200400" y="2743200"/>
            <a:ext cx="2743200" cy="640080"/>
          </a:xfrm>
          <a:prstGeom prst="roundRect">
            <a:avLst>
              <a:gd name="adj" fmla="val 21429"/>
            </a:avLst>
          </a:prstGeom>
          <a:solidFill>
            <a:srgbClr val="FFD700"/>
          </a:solidFill>
          <a:ln/>
        </p:spPr>
      </p:sp>
      <p:sp>
        <p:nvSpPr>
          <p:cNvPr id="6" name="Text 3"/>
          <p:cNvSpPr/>
          <p:nvPr/>
        </p:nvSpPr>
        <p:spPr>
          <a:xfrm>
            <a:off x="3200400" y="2743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PERFORMER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built. The market is ready. The only question is: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D4A0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Are you in?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 |  michaelperkins07@gmail.com  |  mj-superstars-app.onrender.com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FD70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 Performer - Executive Sales Pitch</dc:title>
  <dc:subject>PptxGenJS Presentation</dc:subject>
  <dc:creator>MJ Superstars / Top Performer</dc:creator>
  <cp:lastModifiedBy>MJ Superstars / Top Performer</cp:lastModifiedBy>
  <cp:revision>1</cp:revision>
  <dcterms:created xsi:type="dcterms:W3CDTF">2026-02-11T08:05:59Z</dcterms:created>
  <dcterms:modified xsi:type="dcterms:W3CDTF">2026-02-11T08:05:59Z</dcterms:modified>
</cp:coreProperties>
</file>